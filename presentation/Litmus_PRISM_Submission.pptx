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custom-properties" Target="docProps/custom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17" roundtripDataSignature="AMtx7mgQuomGbdS/wh2yqkB/K4YAZ70YA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customschemas.google.com/relationships/presentationmetadata" Target="meta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7" name="Google Shape;87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" name="Google Shape;88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3" name="Google Shape;123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1" name="Google Shape;14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7" name="Google Shape;147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3" name="Google Shape;153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9" name="Google Shape;159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Closing slide. Add the Google Form URL and a contact email before sharing. Edition 2 organising team for reference: Language AI - Sourabh Tiwari, Gaurav, Sanjeeth Pothireddy, Gorang Maniar; PRISM - Binny Lakra, Prakhar Chandrakar, Vishu Kumar; Kick-off and mentors - Giridhar Jakki, Deepraj Prabhakar Patkar (Language AI), Srimanu Prasad Nagaraju, Ashish Kumar (Tech Strategy).</a:t>
            </a:r>
            <a:endParaRPr/>
          </a:p>
        </p:txBody>
      </p:sp>
      <p:sp>
        <p:nvSpPr>
          <p:cNvPr id="160" name="Google Shape;160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1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15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" name="Google Shape;19;p1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1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1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16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" name="Google Shape;24;p16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25" name="Google Shape;25;p1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1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1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17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17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1" name="Google Shape;31;p1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1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1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18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18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18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1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1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1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9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19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4" name="Google Shape;44;p19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5" name="Google Shape;45;p19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6" name="Google Shape;46;p19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7" name="Google Shape;47;p1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1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1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2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2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22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22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62" name="Google Shape;62;p22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3" name="Google Shape;63;p2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2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2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23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23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9" name="Google Shape;69;p23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70" name="Google Shape;70;p2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2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2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24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24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6" name="Google Shape;76;p2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2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2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25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1" name="Google Shape;81;p25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2" name="Google Shape;82;p2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2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4" name="Google Shape;84;p2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3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1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1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1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"/>
          <p:cNvSpPr/>
          <p:nvPr/>
        </p:nvSpPr>
        <p:spPr>
          <a:xfrm>
            <a:off x="777240" y="676656"/>
            <a:ext cx="2423160" cy="347472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12700">
            <a:solidFill>
              <a:srgbClr val="D9D3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" name="Google Shape;91;p1"/>
          <p:cNvSpPr txBox="1"/>
          <p:nvPr/>
        </p:nvSpPr>
        <p:spPr>
          <a:xfrm>
            <a:off x="777240" y="676656"/>
            <a:ext cx="24231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D28D9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Arial"/>
                <a:ea typeface="Arial"/>
                <a:cs typeface="Arial"/>
                <a:sym typeface="Arial"/>
              </a:rPr>
              <a:t>SAMSUNG PRISM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1"/>
          <p:cNvSpPr txBox="1"/>
          <p:nvPr/>
        </p:nvSpPr>
        <p:spPr>
          <a:xfrm>
            <a:off x="777240" y="1207008"/>
            <a:ext cx="6126480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142B"/>
              </a:buClr>
              <a:buSzPts val="5000"/>
              <a:buFont typeface="Arial"/>
              <a:buNone/>
            </a:pPr>
            <a:r>
              <a:rPr b="1" i="0" lang="en-US" sz="5000" u="none" cap="none" strike="noStrike">
                <a:solidFill>
                  <a:srgbClr val="14142B"/>
                </a:solidFill>
                <a:latin typeface="Arial"/>
                <a:ea typeface="Arial"/>
                <a:cs typeface="Arial"/>
                <a:sym typeface="Arial"/>
              </a:rPr>
              <a:t>Generative AI</a:t>
            </a:r>
            <a:endParaRPr b="0" i="0" sz="5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1"/>
          <p:cNvSpPr txBox="1"/>
          <p:nvPr/>
        </p:nvSpPr>
        <p:spPr>
          <a:xfrm>
            <a:off x="777240" y="1901952"/>
            <a:ext cx="6126480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D28D9"/>
              </a:buClr>
              <a:buSzPts val="5000"/>
              <a:buFont typeface="Arial"/>
              <a:buNone/>
            </a:pPr>
            <a:r>
              <a:rPr b="1" i="0" lang="en-US" sz="5000" u="none" cap="none" strike="noStrike">
                <a:solidFill>
                  <a:srgbClr val="6D28D9"/>
                </a:solidFill>
                <a:latin typeface="Arial"/>
                <a:ea typeface="Arial"/>
                <a:cs typeface="Arial"/>
                <a:sym typeface="Arial"/>
              </a:rPr>
              <a:t>Hackathon</a:t>
            </a:r>
            <a:endParaRPr b="0" i="0" sz="5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1"/>
          <p:cNvSpPr txBox="1"/>
          <p:nvPr/>
        </p:nvSpPr>
        <p:spPr>
          <a:xfrm>
            <a:off x="777240" y="2724912"/>
            <a:ext cx="61264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142B"/>
              </a:buClr>
              <a:buSzPts val="2500"/>
              <a:buFont typeface="Arial"/>
              <a:buNone/>
            </a:pPr>
            <a:r>
              <a:rPr b="1" i="0" lang="en-US" sz="2500" u="none" cap="none" strike="noStrike">
                <a:solidFill>
                  <a:srgbClr val="14142B"/>
                </a:solidFill>
                <a:latin typeface="Arial"/>
                <a:ea typeface="Arial"/>
                <a:cs typeface="Arial"/>
                <a:sym typeface="Arial"/>
              </a:rPr>
              <a:t>3rd Edition</a:t>
            </a:r>
            <a:r>
              <a:rPr b="0" i="0" lang="en-US" sz="20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   2026 – 27</a:t>
            </a:r>
            <a:endParaRPr b="0" i="0" sz="2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1"/>
          <p:cNvSpPr txBox="1"/>
          <p:nvPr/>
        </p:nvSpPr>
        <p:spPr>
          <a:xfrm>
            <a:off x="777240" y="3310128"/>
            <a:ext cx="5852160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77800" lvl="0" marL="177800" marR="0" rtl="0" algn="l">
              <a:spcBef>
                <a:spcPts val="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6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Theme ID - 1 (Theme 1: Agentic Code Intelligence)</a:t>
            </a:r>
            <a:endParaRPr/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6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Team Name - Code Alchemist</a:t>
            </a:r>
            <a:endParaRPr/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6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College Name - Thapar Institute Of Engineering and Technology</a:t>
            </a:r>
            <a:endParaRPr/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6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Member Name &amp; Email 1- Kanika Sahni , ksahni_be24@thapar.edu</a:t>
            </a:r>
            <a:endParaRPr/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6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Member Name &amp; Email 2- Abhinandan Wadhwa , awadhwa_be24@thapar.edu</a:t>
            </a:r>
            <a:endParaRPr/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6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Submission Github link - https://github.com/kanika190905/litmus</a:t>
            </a:r>
            <a:endParaRPr/>
          </a:p>
          <a:p>
            <a:pPr indent="-76200" lvl="0" marL="177800" marR="0" rtl="0" algn="l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r>
              <a:t/>
            </a:r>
            <a:endParaRPr b="0" i="0" sz="1600" u="none" cap="none" strike="noStrike">
              <a:solidFill>
                <a:srgbClr val="63637E"/>
              </a:solidFill>
              <a:latin typeface="Calibri"/>
              <a:ea typeface="Calibri"/>
              <a:cs typeface="Calibri"/>
              <a:sym typeface="Calibri"/>
            </a:endParaRPr>
          </a:p>
          <a:p>
            <a:r>
              <a:rPr sz="1600" b="1">
                <a:solidFill>
                  <a:srgbClr val="704EA6"/>
                </a:solidFill>
              </a:rPr>
              <a:t>Project - Litmus: execution-verified, version-aware code retrieval</a:t>
            </a:r>
          </a:p>
        </p:txBody>
      </p:sp>
      <p:pic>
        <p:nvPicPr>
          <p:cNvPr descr="hero_network.png" id="96" name="Google Shape;96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059168" y="1051560"/>
            <a:ext cx="4572000" cy="4572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Theme</a:t>
            </a:r>
            <a:endParaRPr/>
          </a:p>
        </p:txBody>
      </p:sp>
      <p:sp>
        <p:nvSpPr>
          <p:cNvPr id="102" name="Google Shape;102;p2"/>
          <p:cNvSpPr txBox="1"/>
          <p:nvPr>
            <p:ph idx="1" type="body"/>
          </p:nvPr>
        </p:nvSpPr>
        <p:spPr>
          <a:xfrm>
            <a:off x="685800" y="1600200"/>
            <a:ext cx="6675120" cy="4480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>
              <a:spcBef>
                <a:spcPts val="600"/>
              </a:spcBef>
            </a:pPr>
            <a:r>
              <a:t/>
            </a:r>
            <a:r>
              <a:rPr b="1" sz="1600">
                <a:solidFill>
                  <a:srgbClr val="704EA6"/>
                </a:solidFill>
                <a:latin typeface="Calibri"/>
              </a:rPr>
              <a:t>Theme 1 - Agentic Code Intelligence:</a:t>
            </a:r>
            <a:r>
              <a:rPr b="0" sz="1600">
                <a:solidFill>
                  <a:srgbClr val="1B1B2F"/>
                </a:solidFill>
                <a:latin typeface="Calibri"/>
              </a:rPr>
              <a:t> agents must find the right code before they can fix or extend it</a:t>
            </a:r>
            <a:endParaRPr/>
          </a:p>
          <a:p>
            <a:pPr>
              <a:spcBef>
                <a:spcPts val="600"/>
              </a:spcBef>
            </a:pPr>
            <a:r>
              <a:rPr b="1" sz="1600">
                <a:solidFill>
                  <a:srgbClr val="704EA6"/>
                </a:solidFill>
                <a:latin typeface="Calibri"/>
              </a:rPr>
              <a:t>Task:</a:t>
            </a:r>
            <a:r>
              <a:rPr b="0" sz="1600">
                <a:solidFill>
                  <a:srgbClr val="1B1B2F"/>
                </a:solidFill>
                <a:latin typeface="Calibri"/>
              </a:rPr>
              <a:t> given a code library and a natural-language query, rank the code snippets by relevance (retrieval only - generation is out of scope)</a:t>
            </a:r>
          </a:p>
          <a:p>
            <a:pPr>
              <a:spcBef>
                <a:spcPts val="600"/>
              </a:spcBef>
            </a:pPr>
            <a:r>
              <a:rPr b="1" sz="1600">
                <a:solidFill>
                  <a:srgbClr val="704EA6"/>
                </a:solidFill>
                <a:latin typeface="Calibri"/>
              </a:rPr>
              <a:t>P0 Retrieval accuracy:</a:t>
            </a:r>
            <a:r>
              <a:rPr b="0" sz="1600">
                <a:solidFill>
                  <a:srgbClr val="1B1B2F"/>
                </a:solidFill>
                <a:latin typeface="Calibri"/>
              </a:rPr>
              <a:t> screened on the CoIR-apps test split with NDCG@10 and MRR (MTEB AppsRetrieval)</a:t>
            </a:r>
          </a:p>
          <a:p>
            <a:pPr>
              <a:spcBef>
                <a:spcPts val="600"/>
              </a:spcBef>
            </a:pPr>
            <a:r>
              <a:rPr b="1" sz="1600">
                <a:solidFill>
                  <a:srgbClr val="704EA6"/>
                </a:solidFill>
                <a:latin typeface="Calibri"/>
              </a:rPr>
              <a:t>P1 Retrieval across versions:</a:t>
            </a:r>
            <a:r>
              <a:rPr b="0" sz="1600">
                <a:solidFill>
                  <a:srgbClr val="1B1B2F"/>
                </a:solidFill>
                <a:latin typeface="Calibri"/>
              </a:rPr>
              <a:t> rebuild indexes / caches for any version in reasonable time</a:t>
            </a:r>
          </a:p>
          <a:p>
            <a:pPr>
              <a:spcBef>
                <a:spcPts val="600"/>
              </a:spcBef>
            </a:pPr>
            <a:r>
              <a:rPr b="1" sz="1600">
                <a:solidFill>
                  <a:srgbClr val="704EA6"/>
                </a:solidFill>
                <a:latin typeface="Calibri"/>
              </a:rPr>
              <a:t>Bonus Evolutionary retrieval:</a:t>
            </a:r>
            <a:r>
              <a:rPr b="0" sz="1600">
                <a:solidFill>
                  <a:srgbClr val="1B1B2F"/>
                </a:solidFill>
                <a:latin typeface="Calibri"/>
              </a:rPr>
              <a:t> rank across all versions, where snippets are near-identical</a:t>
            </a:r>
          </a:p>
          <a:p>
            <a:pPr>
              <a:spcBef>
                <a:spcPts val="600"/>
              </a:spcBef>
            </a:pPr>
            <a:r>
              <a:rPr b="1" sz="1600">
                <a:solidFill>
                  <a:srgbClr val="704EA6"/>
                </a:solidFill>
                <a:latin typeface="Calibri"/>
              </a:rPr>
              <a:t>Constraint:</a:t>
            </a:r>
            <a:r>
              <a:rPr b="0" sz="1600">
                <a:solidFill>
                  <a:srgbClr val="1B1B2F"/>
                </a:solidFill>
                <a:latin typeface="Calibri"/>
              </a:rPr>
              <a:t> CPU, minimal GPU; faster than an LLM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7635240" y="1691640"/>
            <a:ext cx="3931920" cy="4206240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 w="15875">
            <a:solidFill>
              <a:srgbClr val="704E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700" b="1">
                <a:solidFill>
                  <a:srgbClr val="704EA6"/>
                </a:solidFill>
                <a:latin typeface="Calibri"/>
              </a:rPr>
              <a:t>What the benchmark really looks like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B1B2F"/>
                </a:solidFill>
                <a:latin typeface="Calibri"/>
              </a:rPr>
              <a:t>3,765 test queries = full competitive-programming statements (median 458 tokens; 17 in Russian)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B1B2F"/>
                </a:solidFill>
                <a:latin typeface="Calibri"/>
              </a:rPr>
              <a:t>8,765 Python solutions (5,000 belong to train problems = distractors)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B1B2F"/>
                </a:solidFill>
                <a:latin typeface="Calibri"/>
              </a:rPr>
              <a:t>exactly 1 relevant snippet per query; identifiers carry almost no signal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B1B2F"/>
                </a:solidFill>
                <a:latin typeface="Calibri"/>
              </a:rPr>
              <a:t>Key observation: 98.4% of test queries contain sample tests (Input -&gt; Output)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B1B2F"/>
                </a:solidFill>
                <a:latin typeface="Calibri"/>
              </a:rPr>
              <a:t>-&gt; a candidate can be executed and checked, not just compared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Existing Solutions &amp; Gaps</a:t>
            </a:r>
            <a:endParaRPr/>
          </a:p>
        </p:txBody>
      </p:sp>
      <p:sp>
        <p:nvSpPr>
          <p:cNvPr id="108" name="Google Shape;108;p3"/>
          <p:cNvSpPr txBox="1"/>
          <p:nvPr>
            <p:ph idx="1" type="body"/>
          </p:nvPr>
        </p:nvSpPr>
        <p:spPr>
          <a:xfrm>
            <a:off x="685800" y="4983480"/>
            <a:ext cx="10789920" cy="12344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>
              <a:spcBef>
                <a:spcPts val="600"/>
              </a:spcBef>
            </a:pPr>
            <a:r>
              <a:rPr b="1" sz="1500">
                <a:solidFill>
                  <a:srgbClr val="704EA6"/>
                </a:solidFill>
                <a:latin typeface="Calibri"/>
              </a:rPr>
              <a:t>Common gap:</a:t>
            </a:r>
            <a:r>
              <a:rPr b="0" sz="1500">
                <a:solidFill>
                  <a:srgbClr val="1B1B2F"/>
                </a:solidFill>
                <a:latin typeface="Calibri"/>
              </a:rPr>
              <a:t> every approach ranks by similarity only - none checks whether a snippet actually does what the query asks</a:t>
            </a:r>
          </a:p>
          <a:p>
            <a:pPr>
              <a:spcBef>
                <a:spcPts val="600"/>
              </a:spcBef>
            </a:pPr>
            <a:r>
              <a:rPr b="1" sz="1500">
                <a:solidFill>
                  <a:srgbClr val="704EA6"/>
                </a:solidFill>
                <a:latin typeface="Calibri"/>
              </a:rPr>
              <a:t>Versions:</a:t>
            </a:r>
            <a:r>
              <a:rPr b="0" sz="1500">
                <a:solidFill>
                  <a:srgbClr val="1B1B2F"/>
                </a:solidFill>
                <a:latin typeface="Calibri"/>
              </a:rPr>
              <a:t> near-duplicate snippets (Bonus) are indistinguishable to embeddings; indexes are usually rebuilt from scratch per version (P1)</a:t>
            </a:r>
          </a:p>
        </p:txBody>
      </p:sp>
      <p:graphicFrame>
        <p:nvGraphicFramePr>
          <p:cNvPr id="109" name="Table 108"/>
          <p:cNvGraphicFramePr>
            <a:graphicFrameLocks noGrp="1"/>
          </p:cNvGraphicFramePr>
          <p:nvPr/>
        </p:nvGraphicFramePr>
        <p:xfrm>
          <a:off x="685800" y="1600200"/>
          <a:ext cx="1078992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54880"/>
                <a:gridCol w="1463040"/>
                <a:gridCol w="4572000"/>
              </a:tblGrid>
              <a:tr h="391885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Approach (published MTEB AppsRetrieval)</a:t>
                      </a:r>
                    </a:p>
                  </a:txBody>
                  <a:tcPr>
                    <a:solidFill>
                      <a:srgbClr val="704EA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NDCG@10</a:t>
                      </a:r>
                    </a:p>
                  </a:txBody>
                  <a:tcPr>
                    <a:solidFill>
                      <a:srgbClr val="704EA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Gap</a:t>
                      </a:r>
                    </a:p>
                  </a:txBody>
                  <a:tcPr>
                    <a:solidFill>
                      <a:srgbClr val="704EA6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B2F"/>
                          </a:solidFill>
                          <a:latin typeface="Calibri"/>
                        </a:rPr>
                        <a:t>BM25 (lexical)</a:t>
                      </a:r>
                    </a:p>
                  </a:txBody>
                  <a:tcPr>
                    <a:solidFill>
                      <a:srgbClr val="F3EF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B2F"/>
                          </a:solidFill>
                          <a:latin typeface="Calibri"/>
                        </a:rPr>
                        <a:t>0.048</a:t>
                      </a:r>
                    </a:p>
                  </a:txBody>
                  <a:tcPr>
                    <a:solidFill>
                      <a:srgbClr val="F3EF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B2F"/>
                          </a:solidFill>
                          <a:latin typeface="Calibri"/>
                        </a:rPr>
                        <a:t>problem text and code share almost no words</a:t>
                      </a:r>
                    </a:p>
                  </a:txBody>
                  <a:tcPr>
                    <a:solidFill>
                      <a:srgbClr val="F3EFFA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B2F"/>
                          </a:solidFill>
                          <a:latin typeface="Calibri"/>
                        </a:rPr>
                        <a:t>General text embedders (OpenAI-3-large / e5-mistral-7B)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B2F"/>
                          </a:solidFill>
                          <a:latin typeface="Calibri"/>
                        </a:rPr>
                        <a:t>0.285 / 0.235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B2F"/>
                          </a:solidFill>
                          <a:latin typeface="Calibri"/>
                        </a:rPr>
                        <a:t>not trained for NL -&gt; code semantics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B2F"/>
                          </a:solidFill>
                          <a:latin typeface="Calibri"/>
                        </a:rPr>
                        <a:t>Code-aware embedders, CPU-size (F2LLM-v2-0.6B)</a:t>
                      </a:r>
                    </a:p>
                  </a:txBody>
                  <a:tcPr>
                    <a:solidFill>
                      <a:srgbClr val="F3EF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B2F"/>
                          </a:solidFill>
                          <a:latin typeface="Calibri"/>
                        </a:rPr>
                        <a:t>0.905</a:t>
                      </a:r>
                    </a:p>
                  </a:txBody>
                  <a:tcPr>
                    <a:solidFill>
                      <a:srgbClr val="F3EF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B2F"/>
                          </a:solidFill>
                          <a:latin typeface="Calibri"/>
                        </a:rPr>
                        <a:t>ranks by similarity: a one-token bug looks identical</a:t>
                      </a:r>
                    </a:p>
                  </a:txBody>
                  <a:tcPr>
                    <a:solidFill>
                      <a:srgbClr val="F3EFFA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B2F"/>
                          </a:solidFill>
                          <a:latin typeface="Calibri"/>
                        </a:rPr>
                        <a:t>Large embedders / APIs (F2LLM-v2-8B, Gemini-embedding-2)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B2F"/>
                          </a:solidFill>
                          <a:latin typeface="Calibri"/>
                        </a:rPr>
                        <a:t>0.964 / 0.986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B2F"/>
                          </a:solidFill>
                          <a:latin typeface="Calibri"/>
                        </a:rPr>
                        <a:t>4-14B params or cloud API - not CPU / on-device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B2F"/>
                          </a:solidFill>
                          <a:latin typeface="Calibri"/>
                        </a:rPr>
                        <a:t>LLM re-ranking</a:t>
                      </a:r>
                    </a:p>
                  </a:txBody>
                  <a:tcPr>
                    <a:solidFill>
                      <a:srgbClr val="F3EF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B2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3EF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B2F"/>
                          </a:solidFill>
                          <a:latin typeface="Calibri"/>
                        </a:rPr>
                        <a:t>slow, context-limited, needs GPU (per the theme brief)</a:t>
                      </a:r>
                    </a:p>
                  </a:txBody>
                  <a:tcPr>
                    <a:solidFill>
                      <a:srgbClr val="F3EFFA"/>
                    </a:solidFill>
                  </a:tcPr>
                </a:tc>
              </a:tr>
              <a:tr h="39189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704EA6"/>
                          </a:solidFill>
                          <a:latin typeface="Calibri"/>
                        </a:rPr>
                        <a:t>Litmus (ours): F2LLM-v2-0.6B + execution verification, CPU</a:t>
                      </a:r>
                    </a:p>
                  </a:txBody>
                  <a:tcPr>
                    <a:solidFill>
                      <a:srgbClr val="E6DC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704EA6"/>
                          </a:solidFill>
                          <a:latin typeface="Calibri"/>
                        </a:rPr>
                        <a:t>0.967</a:t>
                      </a:r>
                    </a:p>
                  </a:txBody>
                  <a:tcPr>
                    <a:solidFill>
                      <a:srgbClr val="E6DC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704EA6"/>
                          </a:solidFill>
                          <a:latin typeface="Calibri"/>
                        </a:rPr>
                        <a:t>official run; above every published model up to 8B</a:t>
                      </a:r>
                    </a:p>
                  </a:txBody>
                  <a:tcPr>
                    <a:solidFill>
                      <a:srgbClr val="E6DCF5"/>
                    </a:solidFill>
                  </a:tcPr>
                </a:tc>
              </a:tr>
            </a:tbl>
          </a:graphicData>
        </a:graphic>
      </p:graphicFrame>
      <p:sp>
        <p:nvSpPr>
          <p:cNvPr id="110" name="TextBox 109"/>
          <p:cNvSpPr txBox="1"/>
          <p:nvPr/>
        </p:nvSpPr>
        <p:spPr>
          <a:xfrm>
            <a:off x="685800" y="626364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3637E"/>
                </a:solidFill>
                <a:latin typeface="Calibri"/>
              </a:rPr>
              <a:t>Source: public MTEB results repository (embeddings-benchmark/results), AppsRetrieval test split.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4"/>
          <p:cNvSpPr txBox="1"/>
          <p:nvPr>
            <p:ph type="title"/>
          </p:nvPr>
        </p:nvSpPr>
        <p:spPr>
          <a:xfrm>
            <a:off x="909917" y="266513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Our Solutions &amp; Architecture Diagram</a:t>
            </a:r>
            <a:endParaRPr/>
          </a:p>
        </p:txBody>
      </p:sp>
      <p:sp>
        <p:nvSpPr>
          <p:cNvPr id="114" name="Google Shape;114;p4"/>
          <p:cNvSpPr txBox="1"/>
          <p:nvPr>
            <p:ph idx="1" type="body"/>
          </p:nvPr>
        </p:nvSpPr>
        <p:spPr>
          <a:xfrm>
            <a:off x="685800" y="5440680"/>
            <a:ext cx="1088136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>
              <a:spcBef>
                <a:spcPts val="600"/>
              </a:spcBef>
            </a:pPr>
            <a:r>
              <a:rPr b="1" sz="1400">
                <a:solidFill>
                  <a:srgbClr val="704EA6"/>
                </a:solidFill>
                <a:latin typeface="Calibri"/>
              </a:rPr>
              <a:t>Search, then verify:</a:t>
            </a:r>
            <a:r>
              <a:rPr b="0" sz="1400">
                <a:solidFill>
                  <a:srgbClr val="1B1B2F"/>
                </a:solidFill>
                <a:latin typeface="Calibri"/>
              </a:rPr>
              <a:t> dense recall finds candidates; executing them on the query's own sample tests decides the ranking. Every vector and execution result is content-addressed, so versions share work.</a:t>
            </a:r>
          </a:p>
        </p:txBody>
      </p:sp>
      <p:pic>
        <p:nvPicPr>
          <p:cNvPr id="115" name="Picture 114" descr="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417320"/>
            <a:ext cx="10881360" cy="514090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Demo &amp; Product Walkthrough</a:t>
            </a:r>
            <a:endParaRPr/>
          </a:p>
        </p:txBody>
      </p:sp>
      <p:sp>
        <p:nvSpPr>
          <p:cNvPr id="120" name="Google Shape;120;p5"/>
          <p:cNvSpPr txBox="1"/>
          <p:nvPr>
            <p:ph idx="1" type="body"/>
          </p:nvPr>
        </p:nvSpPr>
        <p:spPr>
          <a:xfrm>
            <a:off x="685800" y="5989320"/>
            <a:ext cx="108813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>
              <a:spcBef>
                <a:spcPts val="600"/>
              </a:spcBef>
            </a:pPr>
            <a:r>
              <a:rPr b="1" sz="1300">
                <a:solidFill>
                  <a:srgbClr val="704EA6"/>
                </a:solidFill>
                <a:latin typeface="Calibri"/>
              </a:rPr>
              <a:t>Run:</a:t>
            </a:r>
            <a:r>
              <a:rPr b="0" sz="1300">
                <a:solidFill>
                  <a:srgbClr val="1B1B2F"/>
                </a:solidFill>
                <a:latin typeface="Calibri"/>
              </a:rPr>
              <a:t> litmus serve -&gt; http://127.0.0.1:8000   |   CLI: litmus search @demo/queries/q5287.txt --store apps-demo --version all</a:t>
            </a:r>
          </a:p>
        </p:txBody>
      </p:sp>
      <p:pic>
        <p:nvPicPr>
          <p:cNvPr id="121" name="Picture 120" descr="demo_resul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325880"/>
            <a:ext cx="5760720" cy="4140517"/>
          </a:xfrm>
          <a:prstGeom prst="rect">
            <a:avLst/>
          </a:prstGeom>
        </p:spPr>
      </p:pic>
      <p:sp>
        <p:nvSpPr>
          <p:cNvPr id="122" name="TextBox 121"/>
          <p:cNvSpPr txBox="1"/>
          <p:nvPr/>
        </p:nvSpPr>
        <p:spPr>
          <a:xfrm>
            <a:off x="685800" y="5468112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1B1B2F"/>
                </a:solidFill>
                <a:latin typeface="Calibri"/>
              </a:rPr>
              <a:t>Real test query q6018: dense retrieval ranks the ground truth #4; it is the only candidate that reproduces all 4 sample outputs -&gt; Litmus #1 (20 candidates verified in ~20 ms).</a:t>
            </a:r>
          </a:p>
        </p:txBody>
      </p:sp>
      <p:pic>
        <p:nvPicPr>
          <p:cNvPr id="123" name="Picture 122" descr="demo_version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5120" y="1325880"/>
            <a:ext cx="4892040" cy="3057525"/>
          </a:xfrm>
          <a:prstGeom prst="rect">
            <a:avLst/>
          </a:prstGeom>
        </p:spPr>
      </p:pic>
      <p:sp>
        <p:nvSpPr>
          <p:cNvPr id="124" name="Rounded Rectangle 123"/>
          <p:cNvSpPr/>
          <p:nvPr/>
        </p:nvSpPr>
        <p:spPr>
          <a:xfrm>
            <a:off x="6675120" y="4526280"/>
            <a:ext cx="4892040" cy="1325880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 w="15875">
            <a:solidFill>
              <a:srgbClr val="704E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200" b="1">
                <a:solidFill>
                  <a:srgbClr val="704EA6"/>
                </a:solidFill>
                <a:latin typeface="Calibri"/>
              </a:rPr>
              <a:t>Across all versions (Bonus)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1B1B2F"/>
                </a:solidFill>
                <a:latin typeface="Calibri"/>
              </a:rPr>
              <a:t>q5287: v2 regression 'n // 2' -&gt; 'n // 3' is dense #2; it fails 0/3 examples and drops to #4.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1B1B2F"/>
                </a:solidFill>
                <a:latin typeface="Calibri"/>
              </a:rPr>
              <a:t>The correct content (identical in v1 and v3) ranks #1 with 3/3 passing.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44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Tools and tech stack used</a:t>
            </a:r>
            <a:endParaRPr b="1">
              <a:solidFill>
                <a:srgbClr val="704EA6"/>
              </a:solidFill>
            </a:endParaRPr>
          </a:p>
        </p:txBody>
      </p:sp>
      <p:sp>
        <p:nvSpPr>
          <p:cNvPr id="126" name="Google Shape;126;p6"/>
          <p:cNvSpPr txBox="1"/>
          <p:nvPr>
            <p:ph idx="1" type="body"/>
          </p:nvPr>
        </p:nvSpPr>
        <p:spPr>
          <a:xfrm>
            <a:off x="838200" y="1825625"/>
            <a:ext cx="9144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/>
        </p:txBody>
      </p:sp>
      <p:sp>
        <p:nvSpPr>
          <p:cNvPr id="127" name="Rounded Rectangle 126"/>
          <p:cNvSpPr/>
          <p:nvPr/>
        </p:nvSpPr>
        <p:spPr>
          <a:xfrm>
            <a:off x="685800" y="1645920"/>
            <a:ext cx="3429000" cy="2011680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 w="15875">
            <a:solidFill>
              <a:srgbClr val="704E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800" b="1">
                <a:solidFill>
                  <a:srgbClr val="704EA6"/>
                </a:solidFill>
                <a:latin typeface="Calibri"/>
              </a:rPr>
              <a:t>Retrieval model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B1B2F"/>
                </a:solidFill>
                <a:latin typeface="Calibri"/>
              </a:rPr>
              <a:t>codefuse-ai/F2LLM-v2-0.6B (Apache-2.0)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B1B2F"/>
                </a:solidFill>
                <a:latin typeface="Calibri"/>
              </a:rPr>
              <a:t>sentence-transformers + PyTorch CPU fp32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B1B2F"/>
                </a:solidFill>
                <a:latin typeface="Calibri"/>
              </a:rPr>
              <a:t>batch-1 CPU inference (2.7x faster)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4343400" y="1645920"/>
            <a:ext cx="3429000" cy="2011680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 w="15875">
            <a:solidFill>
              <a:srgbClr val="142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800" b="1">
                <a:solidFill>
                  <a:srgbClr val="1428A0"/>
                </a:solidFill>
                <a:latin typeface="Calibri"/>
              </a:rPr>
              <a:t>Evaluation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B1B2F"/>
                </a:solidFill>
                <a:latin typeface="Calibri"/>
              </a:rPr>
              <a:t>MTEB 2.21 - AppsRetrieval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B1B2F"/>
                </a:solidFill>
                <a:latin typeface="Calibri"/>
              </a:rPr>
              <a:t>HF datasets (CoIR-apps, pinned revision)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B1B2F"/>
                </a:solidFill>
                <a:latin typeface="Calibri"/>
              </a:rPr>
              <a:t>own NDCG / MRR / Recall checks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8001000" y="1645920"/>
            <a:ext cx="3429000" cy="2011680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 w="15875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800" b="1">
                <a:solidFill>
                  <a:srgbClr val="2A9D8F"/>
                </a:solidFill>
                <a:latin typeface="Calibri"/>
              </a:rPr>
              <a:t>Execution sandbox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B1B2F"/>
                </a:solidFill>
                <a:latin typeface="Calibri"/>
              </a:rPr>
              <a:t>persistent Python worker pool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B1B2F"/>
                </a:solidFill>
                <a:latin typeface="Calibri"/>
              </a:rPr>
              <a:t>PEP 578 audit hooks, fd redirection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B1B2F"/>
                </a:solidFill>
                <a:latin typeface="Calibri"/>
              </a:rPr>
              <a:t>Job Objects / RLIMIT_AS, watchdog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685800" y="3886200"/>
            <a:ext cx="3429000" cy="2011680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 w="15875">
            <a:solidFill>
              <a:srgbClr val="704E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800" b="1">
                <a:solidFill>
                  <a:srgbClr val="704EA6"/>
                </a:solidFill>
                <a:latin typeface="Calibri"/>
              </a:rPr>
              <a:t>Versioned storage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B1B2F"/>
                </a:solidFill>
                <a:latin typeface="Calibri"/>
              </a:rPr>
              <a:t>content-addressed SQLite caches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B1B2F"/>
                </a:solidFill>
                <a:latin typeface="Calibri"/>
              </a:rPr>
              <a:t>JSON manifests (git-tree style)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B1B2F"/>
                </a:solidFill>
                <a:latin typeface="Calibri"/>
              </a:rPr>
              <a:t>ingest: dir, JSONL, git ref, AST chunks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4343400" y="3886200"/>
            <a:ext cx="3429000" cy="2011680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 w="15875">
            <a:solidFill>
              <a:srgbClr val="142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800" b="1">
                <a:solidFill>
                  <a:srgbClr val="1428A0"/>
                </a:solidFill>
                <a:latin typeface="Calibri"/>
              </a:rPr>
              <a:t>Product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B1B2F"/>
                </a:solidFill>
                <a:latin typeface="Calibri"/>
              </a:rPr>
              <a:t>FastAPI + Uvicorn API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B1B2F"/>
                </a:solidFill>
                <a:latin typeface="Calibri"/>
              </a:rPr>
              <a:t>single-page web UI (no build step)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B1B2F"/>
                </a:solidFill>
                <a:latin typeface="Calibri"/>
              </a:rPr>
              <a:t>`litmus` CLI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8001000" y="3886200"/>
            <a:ext cx="3429000" cy="2011680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 w="15875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800" b="1">
                <a:solidFill>
                  <a:srgbClr val="2A9D8F"/>
                </a:solidFill>
                <a:latin typeface="Calibri"/>
              </a:rPr>
              <a:t>Engineering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B1B2F"/>
                </a:solidFill>
                <a:latin typeface="Calibri"/>
              </a:rPr>
              <a:t>pytest suite (fake embedder)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B1B2F"/>
                </a:solidFill>
                <a:latin typeface="Calibri"/>
              </a:rPr>
              <a:t>Python 3.12, Windows + Linux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B1B2F"/>
                </a:solidFill>
                <a:latin typeface="Calibri"/>
              </a:rPr>
              <a:t>Kaggle GPU for the one-off official benchmark run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44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Impact &amp; Use case</a:t>
            </a:r>
            <a:endParaRPr b="1">
              <a:solidFill>
                <a:srgbClr val="704EA6"/>
              </a:solidFill>
            </a:endParaRPr>
          </a:p>
        </p:txBody>
      </p:sp>
      <p:sp>
        <p:nvSpPr>
          <p:cNvPr id="132" name="Google Shape;132;p7"/>
          <p:cNvSpPr txBox="1"/>
          <p:nvPr>
            <p:ph idx="1" type="body"/>
          </p:nvPr>
        </p:nvSpPr>
        <p:spPr>
          <a:xfrm>
            <a:off x="685800" y="1600200"/>
            <a:ext cx="6766560" cy="4572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>
              <a:spcBef>
                <a:spcPts val="600"/>
              </a:spcBef>
            </a:pPr>
            <a:r>
              <a:t/>
            </a:r>
            <a:r>
              <a:rPr b="1" sz="1600">
                <a:solidFill>
                  <a:srgbClr val="704EA6"/>
                </a:solidFill>
                <a:latin typeface="Calibri"/>
              </a:rPr>
              <a:t>AI coding agents:</a:t>
            </a:r>
            <a:r>
              <a:rPr b="0" sz="1600">
                <a:solidFill>
                  <a:srgbClr val="1B1B2F"/>
                </a:solidFill>
                <a:latin typeface="Calibri"/>
              </a:rPr>
              <a:t> fetch code that is proven to behave as asked before editing it - fewer wrong-file edits</a:t>
            </a:r>
            <a:endParaRPr/>
          </a:p>
          <a:p>
            <a:pPr>
              <a:spcBef>
                <a:spcPts val="600"/>
              </a:spcBef>
            </a:pPr>
            <a:r>
              <a:rPr b="1" sz="1600">
                <a:solidFill>
                  <a:srgbClr val="704EA6"/>
                </a:solidFill>
                <a:latin typeface="Calibri"/>
              </a:rPr>
              <a:t>Regression hunting:</a:t>
            </a:r>
            <a:r>
              <a:rPr b="0" sz="1600">
                <a:solidFill>
                  <a:srgbClr val="1B1B2F"/>
                </a:solidFill>
                <a:latin typeface="Calibri"/>
              </a:rPr>
              <a:t> 'which version still passes this failing example?' - search across versions by behaviour</a:t>
            </a:r>
          </a:p>
          <a:p>
            <a:pPr>
              <a:spcBef>
                <a:spcPts val="600"/>
              </a:spcBef>
            </a:pPr>
            <a:r>
              <a:rPr b="1" sz="1600">
                <a:solidFill>
                  <a:srgbClr val="704EA6"/>
                </a:solidFill>
                <a:latin typeface="Calibri"/>
              </a:rPr>
              <a:t>On-device / air-gapped code search:</a:t>
            </a:r>
            <a:r>
              <a:rPr b="0" sz="1600">
                <a:solidFill>
                  <a:srgbClr val="1B1B2F"/>
                </a:solidFill>
                <a:latin typeface="Calibri"/>
              </a:rPr>
              <a:t> CPU only, no code leaves the machine - fits internal code bases</a:t>
            </a:r>
          </a:p>
          <a:p>
            <a:pPr>
              <a:spcBef>
                <a:spcPts val="600"/>
              </a:spcBef>
            </a:pPr>
            <a:r>
              <a:rPr b="0" sz="1600">
                <a:solidFill>
                  <a:srgbClr val="1B1B2F"/>
                </a:solidFill>
                <a:latin typeface="Calibri"/>
              </a:rPr>
              <a:t>Incremental indexing for fast-moving repos: a commit costs only the changed functions</a:t>
            </a:r>
          </a:p>
          <a:p>
            <a:pPr>
              <a:spcBef>
                <a:spcPts val="600"/>
              </a:spcBef>
            </a:pPr>
            <a:r>
              <a:rPr b="1" sz="1600">
                <a:solidFill>
                  <a:srgbClr val="704EA6"/>
                </a:solidFill>
                <a:latin typeface="Calibri"/>
              </a:rPr>
              <a:t>Explainable ranking:</a:t>
            </a:r>
            <a:r>
              <a:rPr b="0" sz="1600">
                <a:solidFill>
                  <a:srgbClr val="1B1B2F"/>
                </a:solidFill>
                <a:latin typeface="Calibri"/>
              </a:rPr>
              <a:t> every result shows the evidence (outputs vs expected), not just a score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7863840" y="1691640"/>
            <a:ext cx="3840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704EA6"/>
                </a:solidFill>
                <a:latin typeface="Calibri"/>
              </a:rPr>
              <a:t>0.903 -&gt; 0.967</a:t>
            </a:r>
          </a:p>
          <a:p>
            <a:r>
              <a:rPr sz="1100">
                <a:solidFill>
                  <a:srgbClr val="63637E"/>
                </a:solidFill>
                <a:latin typeface="Calibri"/>
              </a:rPr>
              <a:t>official NDCG@10 on the full test split: same 0.6B model alone -&gt; with Litmus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7863840" y="2880360"/>
            <a:ext cx="3840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A9D8F"/>
                </a:solidFill>
                <a:latin typeface="Calibri"/>
              </a:rPr>
              <a:t>30.0% -&gt; 10.0%</a:t>
            </a:r>
          </a:p>
          <a:p>
            <a:r>
              <a:rPr sz="1100">
                <a:solidFill>
                  <a:srgbClr val="63637E"/>
                </a:solidFill>
                <a:latin typeface="Calibri"/>
              </a:rPr>
              <a:t>buggy version ranked above the correct one (all-versions search)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863840" y="4069080"/>
            <a:ext cx="3840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428A0"/>
                </a:solidFill>
                <a:latin typeface="Calibri"/>
              </a:rPr>
              <a:t>50 of 995</a:t>
            </a:r>
          </a:p>
          <a:p>
            <a:r>
              <a:rPr sz="1100">
                <a:solidFill>
                  <a:srgbClr val="63637E"/>
                </a:solidFill>
                <a:latin typeface="Calibri"/>
              </a:rPr>
              <a:t>snippets re-embedded to index a new version (only the changed ones)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8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44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Innovation highlights, results and limitations</a:t>
            </a:r>
            <a:endParaRPr b="1" sz="4400">
              <a:solidFill>
                <a:srgbClr val="704EA6"/>
              </a:solidFill>
            </a:endParaRPr>
          </a:p>
        </p:txBody>
      </p:sp>
      <p:sp>
        <p:nvSpPr>
          <p:cNvPr id="138" name="Google Shape;138;p8"/>
          <p:cNvSpPr txBox="1"/>
          <p:nvPr>
            <p:ph idx="1" type="body"/>
          </p:nvPr>
        </p:nvSpPr>
        <p:spPr>
          <a:xfrm>
            <a:off x="838200" y="1825625"/>
            <a:ext cx="9144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/>
        </p:txBody>
      </p:sp>
      <p:pic>
        <p:nvPicPr>
          <p:cNvPr id="139" name="Picture 138" descr="official_resul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508760"/>
            <a:ext cx="5760720" cy="2947345"/>
          </a:xfrm>
          <a:prstGeom prst="rect">
            <a:avLst/>
          </a:prstGeom>
        </p:spPr>
      </p:pic>
      <p:pic>
        <p:nvPicPr>
          <p:cNvPr id="140" name="Picture 139" descr="evolution_result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080" y="1508760"/>
            <a:ext cx="5486400" cy="2679405"/>
          </a:xfrm>
          <a:prstGeom prst="rect">
            <a:avLst/>
          </a:prstGeom>
        </p:spPr>
      </p:pic>
      <p:sp>
        <p:nvSpPr>
          <p:cNvPr id="141" name="Rounded Rectangle 140"/>
          <p:cNvSpPr/>
          <p:nvPr/>
        </p:nvSpPr>
        <p:spPr>
          <a:xfrm>
            <a:off x="685800" y="4800600"/>
            <a:ext cx="10881360" cy="1554480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 w="15875">
            <a:solidFill>
              <a:srgbClr val="6363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400" b="1">
                <a:solidFill>
                  <a:srgbClr val="63637E"/>
                </a:solidFill>
                <a:latin typeface="Calibri"/>
              </a:rPr>
              <a:t>Limitations (honest)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B1B2F"/>
                </a:solidFill>
                <a:latin typeface="Calibri"/>
              </a:rPr>
              <a:t>Official full test split: NDCG@10 0.9669 / MRR@10 0.9604 (dense-only 0.9032). Embedding for this one-off run used a Kaggle GPU; same fp32 model, the system itself runs on CPU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B1B2F"/>
                </a:solidFill>
                <a:latin typeface="Calibri"/>
              </a:rPr>
              <a:t>Leaderboard models are search-only; Litmus adds a verification step, so it is a pipeline, not a single embedding model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B1B2F"/>
                </a:solidFill>
                <a:latin typeface="Calibri"/>
              </a:rPr>
              <a:t>Fusion weights are hand-set priors (not fitted); queries without sample tests fall back to dense ranking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9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44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What’s next</a:t>
            </a:r>
            <a:endParaRPr b="1" sz="4400">
              <a:solidFill>
                <a:srgbClr val="704EA6"/>
              </a:solidFill>
            </a:endParaRPr>
          </a:p>
        </p:txBody>
      </p:sp>
      <p:sp>
        <p:nvSpPr>
          <p:cNvPr id="144" name="Google Shape;144;p9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>
              <a:spcBef>
                <a:spcPts val="600"/>
              </a:spcBef>
            </a:pPr>
            <a:r>
              <a:t/>
            </a:r>
            <a:r>
              <a:rPr b="1" sz="2000">
                <a:solidFill>
                  <a:srgbClr val="704EA6"/>
                </a:solidFill>
                <a:latin typeface="Calibri"/>
              </a:rPr>
              <a:t>Multiple-answer problems:</a:t>
            </a:r>
            <a:r>
              <a:rPr b="0" sz="2000">
                <a:solidFill>
                  <a:srgbClr val="1B1B2F"/>
                </a:solidFill>
                <a:latin typeface="Calibri"/>
              </a:rPr>
              <a:t> task-specific checkers so 'print any valid answer' solutions can pass</a:t>
            </a:r>
            <a:endParaRPr/>
          </a:p>
          <a:p>
            <a:pPr>
              <a:spcBef>
                <a:spcPts val="600"/>
              </a:spcBef>
            </a:pPr>
            <a:r>
              <a:rPr b="1" sz="2000">
                <a:solidFill>
                  <a:srgbClr val="704EA6"/>
                </a:solidFill>
                <a:latin typeface="Calibri"/>
              </a:rPr>
              <a:t>Learned fusion:</a:t>
            </a:r>
            <a:r>
              <a:rPr b="0" sz="2000">
                <a:solidFill>
                  <a:srgbClr val="1B1B2F"/>
                </a:solidFill>
                <a:latin typeface="Calibri"/>
              </a:rPr>
              <a:t> fit the evidence weights on the CoIR train split (5,000 queries) instead of hand-set priors</a:t>
            </a:r>
          </a:p>
          <a:p>
            <a:pPr>
              <a:spcBef>
                <a:spcPts val="600"/>
              </a:spcBef>
            </a:pPr>
            <a:r>
              <a:rPr b="1" sz="2000">
                <a:solidFill>
                  <a:srgbClr val="704EA6"/>
                </a:solidFill>
                <a:latin typeface="Calibri"/>
              </a:rPr>
              <a:t>More evidence:</a:t>
            </a:r>
            <a:r>
              <a:rPr b="0" sz="2000">
                <a:solidFill>
                  <a:srgbClr val="1B1B2F"/>
                </a:solidFill>
                <a:latin typeface="Calibri"/>
              </a:rPr>
              <a:t> function-level harnesses (Solution().method calls) and generated extra test inputs</a:t>
            </a:r>
          </a:p>
          <a:p>
            <a:pPr>
              <a:spcBef>
                <a:spcPts val="600"/>
              </a:spcBef>
            </a:pPr>
            <a:r>
              <a:rPr b="1" sz="2000">
                <a:solidFill>
                  <a:srgbClr val="704EA6"/>
                </a:solidFill>
                <a:latin typeface="Calibri"/>
              </a:rPr>
              <a:t>Diff-aware queries:</a:t>
            </a:r>
            <a:r>
              <a:rPr b="0" sz="2000">
                <a:solidFill>
                  <a:srgbClr val="1B1B2F"/>
                </a:solidFill>
                <a:latin typeface="Calibri"/>
              </a:rPr>
              <a:t> 'which commit changed the parsing of X?' using version deltas</a:t>
            </a:r>
          </a:p>
          <a:p>
            <a:pPr>
              <a:spcBef>
                <a:spcPts val="600"/>
              </a:spcBef>
            </a:pPr>
            <a:r>
              <a:rPr b="1" sz="2000">
                <a:solidFill>
                  <a:srgbClr val="704EA6"/>
                </a:solidFill>
                <a:latin typeface="Calibri"/>
              </a:rPr>
              <a:t>Scale-out:</a:t>
            </a:r>
            <a:r>
              <a:rPr b="0" sz="2000">
                <a:solidFill>
                  <a:srgbClr val="1B1B2F"/>
                </a:solidFill>
                <a:latin typeface="Calibri"/>
              </a:rPr>
              <a:t> HNSW index, OpenVINO / ONNX int8 with calibration, container sandbox (gVisor)</a:t>
            </a:r>
          </a:p>
          <a:p>
            <a:pPr>
              <a:spcBef>
                <a:spcPts val="600"/>
              </a:spcBef>
            </a:pPr>
            <a:r>
              <a:rPr b="1" sz="2000">
                <a:solidFill>
                  <a:srgbClr val="704EA6"/>
                </a:solidFill>
                <a:latin typeface="Calibri"/>
              </a:rPr>
              <a:t>IDE / agent integration:</a:t>
            </a:r>
            <a:r>
              <a:rPr b="0" sz="2000">
                <a:solidFill>
                  <a:srgbClr val="1B1B2F"/>
                </a:solidFill>
                <a:latin typeface="Calibri"/>
              </a:rPr>
              <a:t> expose search + verify as a tool for coding agents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44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Brownie points slide( differentiation)</a:t>
            </a:r>
            <a:endParaRPr b="1" sz="4400">
              <a:solidFill>
                <a:srgbClr val="704EA6"/>
              </a:solidFill>
            </a:endParaRPr>
          </a:p>
        </p:txBody>
      </p:sp>
      <p:sp>
        <p:nvSpPr>
          <p:cNvPr id="150" name="Google Shape;150;p10"/>
          <p:cNvSpPr txBox="1"/>
          <p:nvPr>
            <p:ph idx="1" type="body"/>
          </p:nvPr>
        </p:nvSpPr>
        <p:spPr>
          <a:xfrm>
            <a:off x="838200" y="1825625"/>
            <a:ext cx="9144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/>
        </p:txBody>
      </p:sp>
      <p:sp>
        <p:nvSpPr>
          <p:cNvPr id="151" name="Rounded Rectangle 150"/>
          <p:cNvSpPr/>
          <p:nvPr/>
        </p:nvSpPr>
        <p:spPr>
          <a:xfrm>
            <a:off x="685800" y="1600200"/>
            <a:ext cx="3429000" cy="2148840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 w="15875">
            <a:solidFill>
              <a:srgbClr val="704E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700" b="1">
                <a:solidFill>
                  <a:srgbClr val="704EA6"/>
                </a:solidFill>
                <a:latin typeface="Calibri"/>
              </a:rPr>
              <a:t>Verify, don't just match</a:t>
            </a:r>
          </a:p>
          <a:p>
            <a:pPr>
              <a:spcBef>
                <a:spcPts val="300"/>
              </a:spcBef>
            </a:pPr>
            <a:r>
              <a:rPr sz="1450">
                <a:solidFill>
                  <a:srgbClr val="1B1B2F"/>
                </a:solidFill>
                <a:latin typeface="Calibri"/>
              </a:rPr>
              <a:t>Executes candidates on the query's own examples. Gold solution passes all its examples in 90.8% of 600 sampled test queries; 1 of 3,000 random snippets do.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4343400" y="1600200"/>
            <a:ext cx="3429000" cy="2148840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 w="15875">
            <a:solidFill>
              <a:srgbClr val="142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700" b="1">
                <a:solidFill>
                  <a:srgbClr val="1428A0"/>
                </a:solidFill>
                <a:latin typeface="Calibri"/>
              </a:rPr>
              <a:t>Versions by construction</a:t>
            </a:r>
          </a:p>
          <a:p>
            <a:pPr>
              <a:spcBef>
                <a:spcPts val="300"/>
              </a:spcBef>
            </a:pPr>
            <a:r>
              <a:rPr sz="1450">
                <a:solidFill>
                  <a:srgbClr val="1B1B2F"/>
                </a:solidFill>
                <a:latin typeface="Calibri"/>
              </a:rPr>
              <a:t>Git-tree-like manifests + content-addressed vectors and execution results: a new version costs only what changed; reverts cost nothing.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8001000" y="1600200"/>
            <a:ext cx="3429000" cy="2148840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 w="15875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700" b="1">
                <a:solidFill>
                  <a:srgbClr val="2A9D8F"/>
                </a:solidFill>
                <a:latin typeface="Calibri"/>
              </a:rPr>
              <a:t>Evolution-aware ranking</a:t>
            </a:r>
          </a:p>
          <a:p>
            <a:pPr>
              <a:spcBef>
                <a:spcPts val="300"/>
              </a:spcBef>
            </a:pPr>
            <a:r>
              <a:rPr sz="1450">
                <a:solidFill>
                  <a:srgbClr val="1B1B2F"/>
                </a:solidFill>
                <a:latin typeface="Calibri"/>
              </a:rPr>
              <a:t>Near-identical versions are separated by behaviour, not text; regressions drop below correct versions.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685800" y="3931920"/>
            <a:ext cx="3429000" cy="2148840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 w="15875">
            <a:solidFill>
              <a:srgbClr val="704E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700" b="1">
                <a:solidFill>
                  <a:srgbClr val="704EA6"/>
                </a:solidFill>
                <a:latin typeface="Calibri"/>
              </a:rPr>
              <a:t>CPU-first, measured</a:t>
            </a:r>
          </a:p>
          <a:p>
            <a:pPr>
              <a:spcBef>
                <a:spcPts val="300"/>
              </a:spcBef>
            </a:pPr>
            <a:r>
              <a:rPr sz="1450">
                <a:solidFill>
                  <a:srgbClr val="1B1B2F"/>
                </a:solidFill>
                <a:latin typeface="Calibri"/>
              </a:rPr>
              <a:t>bf16 -&gt; fp32, batch-1 (2.7x), persistent sandbox workers (ms per check); int8 rejected on measured fidelity.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4343400" y="3931920"/>
            <a:ext cx="3429000" cy="2148840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 w="15875">
            <a:solidFill>
              <a:srgbClr val="142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700" b="1">
                <a:solidFill>
                  <a:srgbClr val="1428A0"/>
                </a:solidFill>
                <a:latin typeface="Calibri"/>
              </a:rPr>
              <a:t>Robust to real data</a:t>
            </a:r>
          </a:p>
          <a:p>
            <a:pPr>
              <a:spcBef>
                <a:spcPts val="300"/>
              </a:spcBef>
            </a:pPr>
            <a:r>
              <a:rPr sz="1450">
                <a:solidFill>
                  <a:srgbClr val="1B1B2F"/>
                </a:solidFill>
                <a:latin typeface="Calibri"/>
              </a:rPr>
              <a:t>Russian statements, AtCoder/Codeforces/CodeChef formats, Python-2 and function-body snippets, numpy.</a:t>
            </a:r>
          </a:p>
        </p:txBody>
      </p:sp>
      <p:sp>
        <p:nvSpPr>
          <p:cNvPr id="156" name="Rounded Rectangle 155"/>
          <p:cNvSpPr/>
          <p:nvPr/>
        </p:nvSpPr>
        <p:spPr>
          <a:xfrm>
            <a:off x="8001000" y="3931920"/>
            <a:ext cx="3429000" cy="2148840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 w="15875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700" b="1">
                <a:solidFill>
                  <a:srgbClr val="2A9D8F"/>
                </a:solidFill>
                <a:latin typeface="Calibri"/>
              </a:rPr>
              <a:t>Honest and reproducible</a:t>
            </a:r>
          </a:p>
          <a:p>
            <a:pPr>
              <a:spcBef>
                <a:spcPts val="300"/>
              </a:spcBef>
            </a:pPr>
            <a:r>
              <a:rPr sz="1450">
                <a:solidFill>
                  <a:srgbClr val="1B1B2F"/>
                </a:solidFill>
                <a:latin typeface="Calibri"/>
              </a:rPr>
              <a:t>Official results produced by mteb.evaluate (AbsEncoder + SearchProtocol) and published; every number comes from a script in the repo.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1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Checklist- Updated on Public GitHub</a:t>
            </a:r>
            <a:endParaRPr/>
          </a:p>
        </p:txBody>
      </p:sp>
      <p:sp>
        <p:nvSpPr>
          <p:cNvPr id="156" name="Google Shape;156;p11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177800" lvl="0" marL="1778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63637E"/>
              </a:buClr>
              <a:buSzPts val="2800"/>
              <a:buChar char="•"/>
            </a:pPr>
            <a:r>
              <a:rPr lang="en-US" sz="280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Working prototype code — public or shared GitHub repo (Y/N)</a:t>
            </a:r>
            <a:r>
              <a:rPr sz="2200" b="1">
                <a:solidFill>
                  <a:srgbClr val="704EA6"/>
                </a:solidFill>
              </a:rPr>
              <a:t>  -&gt;  Y - https://github.com/kanika190905/litmus</a:t>
            </a:r>
            <a:endParaRPr sz="2800"/>
          </a:p>
          <a:p>
            <a:pPr indent="-177800" lvl="0" marL="177800" rtl="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rgbClr val="63637E"/>
              </a:buClr>
              <a:buSzPts val="2800"/>
              <a:buChar char="•"/>
            </a:pPr>
            <a:r>
              <a:rPr lang="en-US" sz="280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README with reproducible setup instructions (Y/N)</a:t>
            </a:r>
            <a:r>
              <a:rPr sz="2200" b="1">
                <a:solidFill>
                  <a:srgbClr val="704EA6"/>
                </a:solidFill>
              </a:rPr>
              <a:t>  -&gt;  Y</a:t>
            </a:r>
            <a:endParaRPr sz="2800"/>
          </a:p>
          <a:p>
            <a:pPr indent="-177800" lvl="0" marL="177800" rtl="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rgbClr val="63637E"/>
              </a:buClr>
              <a:buSzPts val="2800"/>
              <a:buChar char="•"/>
            </a:pPr>
            <a:r>
              <a:rPr lang="en-US" sz="280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Demo video, max 5 minutes (YouTube or Drive link)</a:t>
            </a:r>
            <a:r>
              <a:rPr sz="2200" b="1">
                <a:solidFill>
                  <a:srgbClr val="704EA6"/>
                </a:solidFill>
              </a:rPr>
              <a:t>  -&gt;  https://github.com/kanika190905/litmus/blob/main/demo/Video%20Project.mp4</a:t>
            </a:r>
            <a:endParaRPr sz="2800"/>
          </a:p>
          <a:p>
            <a:pPr indent="-177800" lvl="0" marL="177800" rtl="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rgbClr val="63637E"/>
              </a:buClr>
              <a:buSzPts val="2800"/>
              <a:buChar char="•"/>
            </a:pPr>
            <a:r>
              <a:rPr lang="en-US" sz="280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Presentation file (PPT or PDF) (Y/N)</a:t>
            </a:r>
            <a:r>
              <a:rPr sz="2200" b="1">
                <a:solidFill>
                  <a:srgbClr val="704EA6"/>
                </a:solidFill>
              </a:rPr>
              <a:t>  -&gt;  Y</a:t>
            </a:r>
            <a:endParaRPr sz="2800"/>
          </a:p>
          <a:p>
            <a:pPr indent="0" lvl="0" marL="0" rtl="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/>
          </a:p>
          <a:p>
            <a:r>
              <a:rPr sz="2200">
                <a:solidFill>
                  <a:srgbClr val="63637E"/>
                </a:solidFill>
              </a:rPr>
              <a:t>AI disclosure (AI_DISCLOSURE.md)</a:t>
            </a:r>
            <a:r>
              <a:rPr sz="2200" b="1">
                <a:solidFill>
                  <a:srgbClr val="704EA6"/>
                </a:solidFill>
              </a:rPr>
              <a:t>  -&gt;  Y</a:t>
            </a:r>
          </a:p>
          <a:p>
            <a:r>
              <a:rPr sz="2200">
                <a:solidFill>
                  <a:srgbClr val="63637E"/>
                </a:solidFill>
              </a:rPr>
              <a:t>APK / SDK</a:t>
            </a:r>
            <a:r>
              <a:rPr sz="2200" b="1">
                <a:solidFill>
                  <a:srgbClr val="704EA6"/>
                </a:solidFill>
              </a:rPr>
              <a:t>  -&gt;  N/A - Python package + web app, no mobile component</a:t>
            </a:r>
          </a:p>
          <a:p>
            <a:r>
              <a:rPr sz="2200">
                <a:solidFill>
                  <a:srgbClr val="63637E"/>
                </a:solidFill>
              </a:rPr>
              <a:t>Tag PRISM_GENAI_HACKATHON_Y2026 + release with MTEB JSON</a:t>
            </a:r>
            <a:r>
              <a:rPr sz="2200" b="1">
                <a:solidFill>
                  <a:srgbClr val="704EA6"/>
                </a:solidFill>
              </a:rPr>
              <a:t>  -&gt;  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12"/>
          <p:cNvSpPr txBox="1"/>
          <p:nvPr/>
        </p:nvSpPr>
        <p:spPr>
          <a:xfrm>
            <a:off x="1046181" y="3730214"/>
            <a:ext cx="6766560" cy="868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142B"/>
              </a:buClr>
              <a:buSzPts val="4600"/>
              <a:buFont typeface="Arial"/>
              <a:buNone/>
            </a:pPr>
            <a:r>
              <a:rPr b="1" i="0" lang="en-US" sz="4600" u="none" cap="none" strike="noStrike">
                <a:solidFill>
                  <a:srgbClr val="14142B"/>
                </a:solidFill>
                <a:latin typeface="Arial"/>
                <a:ea typeface="Arial"/>
                <a:cs typeface="Arial"/>
                <a:sym typeface="Arial"/>
              </a:rPr>
              <a:t>Thank you</a:t>
            </a:r>
            <a:endParaRPr b="0" i="0" sz="4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12"/>
          <p:cNvSpPr txBox="1"/>
          <p:nvPr/>
        </p:nvSpPr>
        <p:spPr>
          <a:xfrm>
            <a:off x="777240" y="5897880"/>
            <a:ext cx="1060704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3637E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Organised by the Language AI Team and the PRISM Team, Samsung R&amp;D Institute India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2026-09-07T12:01:01Z</dcterms:created>
  <dc:creator>Binny Lakra/PRISM /SRI-Bangalore/Professional/Samsung Electronics</dc:creator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SCPROP">
    <vt:lpwstr>NSCCustomProperty</vt:lpwstr>
  </property>
</Properties>
</file>